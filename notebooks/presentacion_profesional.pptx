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D1D1D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52247" y="457200"/>
            <a:ext cx="1188720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b="1" sz="4800" i="0" spc="-150">
                <a:solidFill>
                  <a:srgbClr val="352884"/>
                </a:solidFill>
                <a:latin typeface="Aptos"/>
              </a:rPr>
              <a:t>LECCIÓN SIETE</a:t>
            </a:r>
          </a:p>
          <a:p>
            <a:pPr algn="ctr"/>
            <a:r>
              <a:rPr b="1" sz="4800" i="0" spc="-150">
                <a:solidFill>
                  <a:srgbClr val="352884"/>
                </a:solidFill>
                <a:latin typeface="Aptos"/>
              </a:rPr>
              <a:t>LA ORACIÓN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D1D1D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52247" y="457200"/>
            <a:ext cx="1188720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b="1" sz="4800" i="0" spc="-150">
                <a:solidFill>
                  <a:srgbClr val="352884"/>
                </a:solidFill>
                <a:latin typeface="Aptos"/>
              </a:rPr>
              <a:t>1. Su importancia:</a:t>
            </a:r>
          </a:p>
          <a:p>
            <a:pPr algn="just"/>
            <a:r>
              <a:rPr b="1" sz="4800" i="0" spc="-150">
                <a:latin typeface="Aptos"/>
              </a:rPr>
              <a:t>La oración es de vital importancia e indispensable para el cristiano. La oración es privilegio y deber del cristiano (</a:t>
            </a:r>
            <a:r>
              <a:rPr b="1" sz="4400" i="1" spc="-150">
                <a:solidFill>
                  <a:srgbClr val="C00000"/>
                </a:solidFill>
                <a:latin typeface="Aptos"/>
              </a:rPr>
              <a:t>1 Timoteo 2:8</a:t>
            </a:r>
            <a:r>
              <a:rPr b="1" sz="4800" i="0" spc="-150">
                <a:latin typeface="Aptos"/>
              </a:rPr>
              <a:t>; </a:t>
            </a:r>
            <a:r>
              <a:rPr b="1" sz="4400" i="1" spc="-150">
                <a:solidFill>
                  <a:srgbClr val="C00000"/>
                </a:solidFill>
                <a:latin typeface="Aptos"/>
              </a:rPr>
              <a:t>Lucas 18:1</a:t>
            </a:r>
            <a:r>
              <a:rPr b="1" sz="4800" i="0" spc="-150">
                <a:latin typeface="Aptos"/>
              </a:rPr>
              <a:t>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D1D1D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52247" y="457200"/>
            <a:ext cx="1188720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just"/>
            <a:r>
              <a:rPr b="1" sz="4800" i="0" spc="-150">
                <a:latin typeface="Aptos"/>
              </a:rPr>
              <a:t>Por medio de la oración el alma se allega a Dios, (</a:t>
            </a:r>
            <a:r>
              <a:rPr b="1" sz="4400" i="1" spc="-150">
                <a:solidFill>
                  <a:srgbClr val="C00000"/>
                </a:solidFill>
                <a:latin typeface="Aptos"/>
              </a:rPr>
              <a:t>Hebreos 10:19-22</a:t>
            </a:r>
            <a:r>
              <a:rPr b="1" sz="4800" i="0" spc="-150">
                <a:latin typeface="Aptos"/>
              </a:rPr>
              <a:t>), para adorarle y alabarle por sus misericordias (</a:t>
            </a:r>
            <a:r>
              <a:rPr b="1" sz="4400" i="1" spc="-150">
                <a:solidFill>
                  <a:srgbClr val="C00000"/>
                </a:solidFill>
                <a:latin typeface="Aptos"/>
              </a:rPr>
              <a:t>Salmos 103:1-3</a:t>
            </a:r>
            <a:r>
              <a:rPr b="1" sz="4800" i="0" spc="-150">
                <a:latin typeface="Aptos"/>
              </a:rPr>
              <a:t>; </a:t>
            </a:r>
            <a:r>
              <a:rPr b="1" sz="4400" i="1" spc="-150">
                <a:solidFill>
                  <a:srgbClr val="C00000"/>
                </a:solidFill>
                <a:latin typeface="Aptos"/>
              </a:rPr>
              <a:t>Filipenses 4:6</a:t>
            </a:r>
            <a:r>
              <a:rPr b="1" sz="4800" i="0" spc="-150">
                <a:latin typeface="Aptos"/>
              </a:rPr>
              <a:t>), para pedir lo que necesitamos (</a:t>
            </a:r>
            <a:r>
              <a:rPr b="1" sz="4400" i="1" spc="-150">
                <a:solidFill>
                  <a:srgbClr val="C00000"/>
                </a:solidFill>
                <a:latin typeface="Aptos"/>
              </a:rPr>
              <a:t>1 Juan 5:14</a:t>
            </a:r>
            <a:r>
              <a:rPr b="1" sz="4800" i="0" spc="-150">
                <a:latin typeface="Aptos"/>
              </a:rPr>
              <a:t>; </a:t>
            </a:r>
            <a:r>
              <a:rPr b="1" sz="4400" i="1" spc="-150">
                <a:solidFill>
                  <a:srgbClr val="C00000"/>
                </a:solidFill>
                <a:latin typeface="Aptos"/>
              </a:rPr>
              <a:t>Mateo 7:7</a:t>
            </a:r>
            <a:r>
              <a:rPr b="1" sz="4800" i="0" spc="-150">
                <a:latin typeface="Aptos"/>
              </a:rPr>
              <a:t>), para interceder a favor de otros (</a:t>
            </a:r>
            <a:r>
              <a:rPr b="1" sz="4400" i="1" spc="-150">
                <a:solidFill>
                  <a:srgbClr val="C00000"/>
                </a:solidFill>
                <a:latin typeface="Aptos"/>
              </a:rPr>
              <a:t>Efesios 3:14-17</a:t>
            </a:r>
            <a:r>
              <a:rPr b="1" sz="4800" i="0" spc="-150">
                <a:latin typeface="Aptos"/>
              </a:rPr>
              <a:t>; </a:t>
            </a:r>
            <a:r>
              <a:rPr b="1" sz="4400" i="1" spc="-150">
                <a:solidFill>
                  <a:srgbClr val="C00000"/>
                </a:solidFill>
                <a:latin typeface="Aptos"/>
              </a:rPr>
              <a:t>1 Samuel 12:23</a:t>
            </a:r>
            <a:r>
              <a:rPr b="1" sz="4800" i="0" spc="-150">
                <a:latin typeface="Aptos"/>
              </a:rPr>
              <a:t>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D1D1D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52247" y="457200"/>
            <a:ext cx="1188720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b="1" sz="4800" i="0" spc="-150">
                <a:solidFill>
                  <a:srgbClr val="352884"/>
                </a:solidFill>
                <a:latin typeface="Aptos"/>
              </a:rPr>
              <a:t>2. Cómo debe ser hecha:</a:t>
            </a:r>
          </a:p>
          <a:p>
            <a:pPr algn="just"/>
            <a:r>
              <a:rPr b="1" sz="4800" i="0" spc="-150">
                <a:latin typeface="Aptos"/>
              </a:rPr>
              <a:t>a. La oración debe ser dirigida a Dios en el nombre de Jesucristo. (</a:t>
            </a:r>
            <a:r>
              <a:rPr b="1" sz="4400" i="1" spc="-150">
                <a:solidFill>
                  <a:srgbClr val="C00000"/>
                </a:solidFill>
                <a:latin typeface="Aptos"/>
              </a:rPr>
              <a:t>Juan 14:13, 14</a:t>
            </a:r>
            <a:r>
              <a:rPr b="1" sz="4800" i="0" spc="-150">
                <a:latin typeface="Aptos"/>
              </a:rPr>
              <a:t>). En el poder e inspiración del Espíritu Santo (</a:t>
            </a:r>
            <a:r>
              <a:rPr b="1" sz="4400" i="1" spc="-150">
                <a:solidFill>
                  <a:srgbClr val="C00000"/>
                </a:solidFill>
                <a:latin typeface="Aptos"/>
              </a:rPr>
              <a:t>Efesios 6:18</a:t>
            </a:r>
            <a:r>
              <a:rPr b="1" sz="4800" i="0" spc="-150">
                <a:latin typeface="Aptos"/>
              </a:rPr>
              <a:t>; </a:t>
            </a:r>
            <a:r>
              <a:rPr b="1" sz="4400" i="1" spc="-150">
                <a:solidFill>
                  <a:srgbClr val="C00000"/>
                </a:solidFill>
                <a:latin typeface="Aptos"/>
              </a:rPr>
              <a:t>Romanos 8:26</a:t>
            </a:r>
            <a:r>
              <a:rPr b="1" sz="4800" i="0" spc="-150">
                <a:latin typeface="Aptos"/>
              </a:rPr>
              <a:t>). Con el entendimiento (</a:t>
            </a:r>
            <a:r>
              <a:rPr b="1" sz="4400" i="1" spc="-150">
                <a:solidFill>
                  <a:srgbClr val="C00000"/>
                </a:solidFill>
                <a:latin typeface="Aptos"/>
              </a:rPr>
              <a:t>1 Corintios 14:15</a:t>
            </a:r>
            <a:r>
              <a:rPr b="1" sz="4800" i="0" spc="-150">
                <a:latin typeface="Aptos"/>
              </a:rPr>
              <a:t>). Cualquiera que sea nuestra necesidad debemos llevarla a Dios en oración (</a:t>
            </a:r>
            <a:r>
              <a:rPr b="1" sz="4400" i="1" spc="-150">
                <a:solidFill>
                  <a:srgbClr val="C00000"/>
                </a:solidFill>
                <a:latin typeface="Aptos"/>
              </a:rPr>
              <a:t>Filipenses 4:6</a:t>
            </a:r>
            <a:r>
              <a:rPr b="1" sz="4800" i="0" spc="-150">
                <a:latin typeface="Aptos"/>
              </a:rPr>
              <a:t>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D1D1D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52247" y="457200"/>
            <a:ext cx="1188720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b="1" sz="4800" i="0" spc="-150">
                <a:solidFill>
                  <a:srgbClr val="352884"/>
                </a:solidFill>
                <a:latin typeface="Aptos"/>
              </a:rPr>
              <a:t>3. Condiciones para la oración eficaz:</a:t>
            </a:r>
          </a:p>
          <a:p>
            <a:pPr algn="just"/>
            <a:r>
              <a:rPr b="1" sz="4800" i="0" spc="-150">
                <a:latin typeface="Aptos"/>
              </a:rPr>
              <a:t>a. Debe ser hecha en contrición (</a:t>
            </a:r>
            <a:r>
              <a:rPr b="1" sz="4400" i="1" spc="-150">
                <a:solidFill>
                  <a:srgbClr val="C00000"/>
                </a:solidFill>
                <a:latin typeface="Aptos"/>
              </a:rPr>
              <a:t>2 Crónicas 7:14</a:t>
            </a:r>
            <a:r>
              <a:rPr b="1" sz="4800" i="0" spc="-150">
                <a:latin typeface="Aptos"/>
              </a:rPr>
              <a:t>).</a:t>
            </a:r>
          </a:p>
          <a:p>
            <a:pPr algn="just"/>
            <a:r>
              <a:rPr b="1" sz="4800" i="0" spc="-150">
                <a:latin typeface="Aptos"/>
              </a:rPr>
              <a:t>b. De todo corazón (</a:t>
            </a:r>
            <a:r>
              <a:rPr b="1" sz="4400" i="1" spc="-150">
                <a:solidFill>
                  <a:srgbClr val="C00000"/>
                </a:solidFill>
                <a:latin typeface="Aptos"/>
              </a:rPr>
              <a:t>Jeremías 29:13</a:t>
            </a:r>
            <a:r>
              <a:rPr b="1" sz="4800" i="0" spc="-150">
                <a:latin typeface="Aptos"/>
              </a:rPr>
              <a:t>).</a:t>
            </a:r>
          </a:p>
          <a:p>
            <a:pPr algn="just"/>
            <a:r>
              <a:rPr b="1" sz="4800" i="0" spc="-150">
                <a:latin typeface="Aptos"/>
              </a:rPr>
              <a:t>c. En Fe (</a:t>
            </a:r>
            <a:r>
              <a:rPr b="1" sz="4400" i="1" spc="-150">
                <a:solidFill>
                  <a:srgbClr val="C00000"/>
                </a:solidFill>
                <a:latin typeface="Aptos"/>
              </a:rPr>
              <a:t>Marcos 11:24</a:t>
            </a:r>
            <a:r>
              <a:rPr b="1" sz="4800" i="0" spc="-150">
                <a:latin typeface="Aptos"/>
              </a:rPr>
              <a:t>).</a:t>
            </a:r>
          </a:p>
          <a:p>
            <a:pPr algn="just"/>
            <a:r>
              <a:rPr b="1" sz="4800" i="0" spc="-150">
                <a:latin typeface="Aptos"/>
              </a:rPr>
              <a:t>d. En rectitud (</a:t>
            </a:r>
            <a:r>
              <a:rPr b="1" sz="4400" i="1" spc="-150">
                <a:solidFill>
                  <a:srgbClr val="C00000"/>
                </a:solidFill>
                <a:latin typeface="Aptos"/>
              </a:rPr>
              <a:t>Santiago 5:16</a:t>
            </a:r>
            <a:r>
              <a:rPr b="1" sz="4800" i="0" spc="-150">
                <a:latin typeface="Aptos"/>
              </a:rPr>
              <a:t>; </a:t>
            </a:r>
            <a:r>
              <a:rPr b="1" sz="4400" i="1" spc="-150">
                <a:solidFill>
                  <a:srgbClr val="C00000"/>
                </a:solidFill>
                <a:latin typeface="Aptos"/>
              </a:rPr>
              <a:t>Salmos 66:18</a:t>
            </a:r>
            <a:r>
              <a:rPr b="1" sz="4800" i="0" spc="-150">
                <a:latin typeface="Aptos"/>
              </a:rPr>
              <a:t>).</a:t>
            </a:r>
          </a:p>
          <a:p>
            <a:pPr algn="just"/>
            <a:r>
              <a:rPr b="1" sz="4800" i="0" spc="-150">
                <a:latin typeface="Aptos"/>
              </a:rPr>
              <a:t>e. En Obediencia (</a:t>
            </a:r>
            <a:r>
              <a:rPr b="1" sz="4400" i="1" spc="-150">
                <a:solidFill>
                  <a:srgbClr val="C00000"/>
                </a:solidFill>
                <a:latin typeface="Aptos"/>
              </a:rPr>
              <a:t>1 Juan 3:22</a:t>
            </a:r>
            <a:r>
              <a:rPr b="1" sz="4800" i="0" spc="-150">
                <a:latin typeface="Aptos"/>
              </a:rPr>
              <a:t>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D1D1D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52247" y="457200"/>
            <a:ext cx="1188720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just"/>
            <a:r>
              <a:rPr b="1" sz="4800" i="0" spc="-150">
                <a:latin typeface="Aptos"/>
              </a:rPr>
              <a:t>El cristiano que ora sirve mejor al Señor y es una influencia eficaz y bienhechora en la iglesia. Hay que echar mano del máximo de los recursos espirituales que Dios ha puesto a nuestra disposición. “Orad sin cesar”, es la exhortación que nos hace San Pablo, pues la oración más que un acto aislado, debe ser un estado permanente en el cristiano.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D1D1D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52247" y="457200"/>
            <a:ext cx="1188720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b="1" sz="4800" i="0" spc="-150">
                <a:solidFill>
                  <a:srgbClr val="352884"/>
                </a:solidFill>
                <a:latin typeface="Aptos"/>
              </a:rPr>
              <a:t>PREGUNTAS</a:t>
            </a:r>
          </a:p>
          <a:p>
            <a:pPr algn="just"/>
            <a:r>
              <a:rPr b="1" sz="4800" i="0" spc="-150">
                <a:latin typeface="Aptos"/>
              </a:rPr>
              <a:t>Explique el lugar que ocupa la oración en la vida del cristiano.</a:t>
            </a:r>
          </a:p>
          <a:p>
            <a:pPr algn="just"/>
            <a:r>
              <a:rPr b="1" sz="4800" i="0" spc="-150">
                <a:latin typeface="Aptos"/>
              </a:rPr>
              <a:t>¿Cómo debe ser hecha la oración?</a:t>
            </a:r>
          </a:p>
          <a:p>
            <a:pPr algn="just"/>
            <a:r>
              <a:rPr b="1" sz="4800" i="0" spc="-150">
                <a:latin typeface="Aptos"/>
              </a:rPr>
              <a:t>Mencione algunas condiciones para la oración eficaz.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